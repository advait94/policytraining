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74A28D-1705-7315-1AE1-08413D8624D3}" v="136" dt="2026-05-14T14:24:10.6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01200" y="-1097280"/>
            <a:ext cx="4114800" cy="4114800"/>
          </a:xfrm>
          <a:prstGeom prst="ellipse">
            <a:avLst/>
          </a:prstGeom>
          <a:solidFill>
            <a:srgbClr val="1E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2651760" cy="38404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AA PLUS POLICY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8686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Admin How-To Guide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246120"/>
            <a:ext cx="146304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3832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BD5E1"/>
                </a:solidFill>
                <a:latin typeface="Calibri"/>
              </a:rPr>
              <a:t>A complete reference for managing your organisation's compliance training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632764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training.aaplus.app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0F1B1945-4089-FDA0-434E-9A839305819D}"/>
              </a:ext>
            </a:extLst>
          </p:cNvPr>
          <p:cNvSpPr/>
          <p:nvPr/>
        </p:nvSpPr>
        <p:spPr>
          <a:xfrm>
            <a:off x="456612" y="4300037"/>
            <a:ext cx="5120640" cy="2003817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What's Inside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09728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5120640" cy="1994661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94360" y="1554480"/>
            <a:ext cx="438912" cy="438912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62775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1545336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Inviting &amp; Managing 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1929384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CBD5E1"/>
                </a:solidFill>
                <a:latin typeface="Calibri"/>
              </a:rPr>
              <a:t>• Single &amp; bulk user invitations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CBD5E1"/>
                </a:solidFill>
                <a:latin typeface="Calibri"/>
              </a:rPr>
              <a:t>• Changing roles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CBD5E1"/>
                </a:solidFill>
                <a:latin typeface="Calibri"/>
              </a:rPr>
              <a:t>• Revoking access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417320"/>
            <a:ext cx="5120640" cy="1994661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446520" y="1554480"/>
            <a:ext cx="438912" cy="438912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609442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67728" y="1545336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Departments &amp; Modules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67728" y="1929384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CBD5E1"/>
                </a:solidFill>
                <a:latin typeface="Calibri"/>
              </a:rPr>
              <a:t>• Create departments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CBD5E1"/>
                </a:solidFill>
                <a:latin typeface="Calibri"/>
              </a:rPr>
              <a:t>• Assign modules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CBD5E1"/>
                </a:solidFill>
                <a:latin typeface="Calibri"/>
              </a:rPr>
              <a:t>• Set deadlines</a:t>
            </a:r>
          </a:p>
        </p:txBody>
      </p:sp>
      <p:sp>
        <p:nvSpPr>
          <p:cNvPr id="16" name="Oval 15"/>
          <p:cNvSpPr/>
          <p:nvPr/>
        </p:nvSpPr>
        <p:spPr>
          <a:xfrm>
            <a:off x="594360" y="4473821"/>
            <a:ext cx="438912" cy="438912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4537939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4510458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Reports &amp; Compliance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4894506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CBD5E1"/>
                </a:solidFill>
                <a:latin typeface="Calibri"/>
              </a:rPr>
              <a:t>• Compliance dashboard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CBD5E1"/>
                </a:solidFill>
                <a:latin typeface="Calibri"/>
              </a:rPr>
              <a:t>• Audit log export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CBD5E1"/>
                </a:solidFill>
                <a:latin typeface="Calibri"/>
              </a:rPr>
              <a:t>• Certificate downloads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4300037"/>
            <a:ext cx="5120640" cy="2003817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464835" y="4373103"/>
            <a:ext cx="438912" cy="438912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64835" y="4446377"/>
            <a:ext cx="4389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86043" y="4400584"/>
            <a:ext cx="42976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AI Policy &amp; Org Settings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43" y="4830413"/>
            <a:ext cx="4297680" cy="718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CBD5E1"/>
                </a:solidFill>
                <a:latin typeface="Calibri"/>
              </a:rPr>
              <a:t>• AI policy quiz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CBD5E1"/>
                </a:solidFill>
                <a:latin typeface="Calibri"/>
              </a:rPr>
              <a:t>• Upload logo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CBD5E1"/>
                </a:solidFill>
                <a:latin typeface="Calibri"/>
              </a:rPr>
              <a:t>• POSH / ICC details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43600" y="0"/>
            <a:ext cx="6245352" cy="6858000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0" y="0"/>
            <a:ext cx="20116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0" b="1" i="0">
                <a:solidFill>
                  <a:srgbClr val="19233C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  <a:latin typeface="Calibri"/>
              </a:rPr>
              <a:t>SECTION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Inviting &amp;
Managing Users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977639"/>
            <a:ext cx="82296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BD5E1"/>
                </a:solidFill>
                <a:latin typeface="Calibri"/>
              </a:rPr>
              <a:t>Add individuals or bulk-import teams, assign roles, and control access.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5852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AA Plus Policy Training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11480" y="411480"/>
            <a:ext cx="822960" cy="8229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02336" y="631416"/>
            <a:ext cx="84124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463040"/>
            <a:ext cx="3337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Invite a Single User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4846320"/>
            <a:ext cx="91440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Step-by-step guide</a:t>
            </a:r>
          </a:p>
        </p:txBody>
      </p:sp>
      <p:sp>
        <p:nvSpPr>
          <p:cNvPr id="9" name="Oval 8"/>
          <p:cNvSpPr/>
          <p:nvPr/>
        </p:nvSpPr>
        <p:spPr>
          <a:xfrm>
            <a:off x="4160520" y="576072"/>
            <a:ext cx="384048" cy="38404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60520" y="627764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4256" y="960120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557784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Go to Admin Dashboard → Users tab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Click Users in the top navigation of the admin panel.</a:t>
            </a:r>
          </a:p>
        </p:txBody>
      </p:sp>
      <p:sp>
        <p:nvSpPr>
          <p:cNvPr id="13" name="Oval 12"/>
          <p:cNvSpPr/>
          <p:nvPr/>
        </p:nvSpPr>
        <p:spPr>
          <a:xfrm>
            <a:off x="4160520" y="1517904"/>
            <a:ext cx="384048" cy="38404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60520" y="156959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4256" y="1901952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63440" y="1499616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Click the Invite User button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Found in the top-right corner of the Users tab.</a:t>
            </a:r>
          </a:p>
        </p:txBody>
      </p:sp>
      <p:sp>
        <p:nvSpPr>
          <p:cNvPr id="17" name="Oval 16"/>
          <p:cNvSpPr/>
          <p:nvPr/>
        </p:nvSpPr>
        <p:spPr>
          <a:xfrm>
            <a:off x="4160520" y="2459736"/>
            <a:ext cx="384048" cy="38404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60520" y="2511428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34256" y="2843784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63440" y="2441448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Enter the user's name and email address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Both fields are required to send the invitation.</a:t>
            </a:r>
          </a:p>
        </p:txBody>
      </p:sp>
      <p:sp>
        <p:nvSpPr>
          <p:cNvPr id="21" name="Oval 20"/>
          <p:cNvSpPr/>
          <p:nvPr/>
        </p:nvSpPr>
        <p:spPr>
          <a:xfrm>
            <a:off x="4160520" y="3401568"/>
            <a:ext cx="384048" cy="38404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60520" y="3433265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34256" y="3785616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63440" y="3383280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Select a role: Learner or Manager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Managers can view their team's compliance status.</a:t>
            </a:r>
          </a:p>
        </p:txBody>
      </p:sp>
      <p:sp>
        <p:nvSpPr>
          <p:cNvPr id="25" name="Oval 24"/>
          <p:cNvSpPr/>
          <p:nvPr/>
        </p:nvSpPr>
        <p:spPr>
          <a:xfrm>
            <a:off x="4160520" y="4343400"/>
            <a:ext cx="384048" cy="38404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60520" y="4385094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34256" y="4727448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63440" y="4325112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(Optional) Select a department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Assigns the user to a team and filters their modules.</a:t>
            </a:r>
          </a:p>
        </p:txBody>
      </p:sp>
      <p:sp>
        <p:nvSpPr>
          <p:cNvPr id="29" name="Oval 28"/>
          <p:cNvSpPr/>
          <p:nvPr/>
        </p:nvSpPr>
        <p:spPr>
          <a:xfrm>
            <a:off x="4160520" y="5285232"/>
            <a:ext cx="384048" cy="38404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160520" y="5326927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5266944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Click Send Invite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The user receives a setup email with a secure link.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60520" y="6080760"/>
            <a:ext cx="7772400" cy="621792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160520" y="6080760"/>
            <a:ext cx="54864" cy="6217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325112" y="6108192"/>
            <a:ext cx="7543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BD5E1"/>
                </a:solidFill>
                <a:latin typeface="Calibri"/>
              </a:rPr>
              <a:t>Tip: Invitations expire after 7 days — resend from the Users tab if needed.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11480" y="411480"/>
            <a:ext cx="822960" cy="8229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02336" y="671405"/>
            <a:ext cx="84124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463040"/>
            <a:ext cx="3337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Bulk Import Users
via CSV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4846320"/>
            <a:ext cx="91440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Step-by-step guide</a:t>
            </a:r>
          </a:p>
        </p:txBody>
      </p:sp>
      <p:sp>
        <p:nvSpPr>
          <p:cNvPr id="9" name="Oval 8"/>
          <p:cNvSpPr/>
          <p:nvPr/>
        </p:nvSpPr>
        <p:spPr>
          <a:xfrm>
            <a:off x="4160520" y="576072"/>
            <a:ext cx="384048" cy="38404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60520" y="627764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4256" y="960120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557784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Go to Admin Dashboard → Users tab</a:t>
            </a:r>
          </a:p>
        </p:txBody>
      </p:sp>
      <p:sp>
        <p:nvSpPr>
          <p:cNvPr id="13" name="Oval 12"/>
          <p:cNvSpPr/>
          <p:nvPr/>
        </p:nvSpPr>
        <p:spPr>
          <a:xfrm>
            <a:off x="4160520" y="1517904"/>
            <a:ext cx="384048" cy="38404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60520" y="156959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4256" y="1901952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63440" y="1499616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Click Bulk Invite and download the CSV template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The template has Name, Email, and Department columns.</a:t>
            </a:r>
          </a:p>
        </p:txBody>
      </p:sp>
      <p:sp>
        <p:nvSpPr>
          <p:cNvPr id="17" name="Oval 16"/>
          <p:cNvSpPr/>
          <p:nvPr/>
        </p:nvSpPr>
        <p:spPr>
          <a:xfrm>
            <a:off x="4160520" y="2459736"/>
            <a:ext cx="384048" cy="38404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60520" y="2511428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34256" y="2843784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63440" y="2441448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Fill in one user per row and save the file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Department names must match exactly what's in the platform.</a:t>
            </a:r>
          </a:p>
        </p:txBody>
      </p:sp>
      <p:sp>
        <p:nvSpPr>
          <p:cNvPr id="21" name="Oval 20"/>
          <p:cNvSpPr/>
          <p:nvPr/>
        </p:nvSpPr>
        <p:spPr>
          <a:xfrm>
            <a:off x="4160520" y="3401568"/>
            <a:ext cx="384048" cy="38404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60520" y="3453260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34256" y="3785616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63440" y="3383280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Upload the completed CSV file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Drag and drop or click Browse to select the file.</a:t>
            </a:r>
          </a:p>
        </p:txBody>
      </p:sp>
      <p:sp>
        <p:nvSpPr>
          <p:cNvPr id="25" name="Oval 24"/>
          <p:cNvSpPr/>
          <p:nvPr/>
        </p:nvSpPr>
        <p:spPr>
          <a:xfrm>
            <a:off x="4160520" y="4343400"/>
            <a:ext cx="384048" cy="38404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60520" y="4395092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34256" y="4727448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63440" y="4325112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Review the preview list for any errors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Rows with invalid emails are highlighted in red.</a:t>
            </a:r>
          </a:p>
        </p:txBody>
      </p:sp>
      <p:sp>
        <p:nvSpPr>
          <p:cNvPr id="29" name="Oval 28"/>
          <p:cNvSpPr/>
          <p:nvPr/>
        </p:nvSpPr>
        <p:spPr>
          <a:xfrm>
            <a:off x="4160520" y="5285232"/>
            <a:ext cx="384048" cy="38404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160520" y="5336924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5266944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Click Send All Invites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Each user receives an individual invitation email.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60520" y="6080760"/>
            <a:ext cx="7772400" cy="621792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160520" y="6080760"/>
            <a:ext cx="54864" cy="6217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325112" y="6108192"/>
            <a:ext cx="7543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BD5E1"/>
                </a:solidFill>
                <a:latin typeface="Calibri"/>
              </a:rPr>
              <a:t>Tip: Use the template — custom column orders will cause import errors.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11480" y="411480"/>
            <a:ext cx="822960" cy="8229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02336" y="651410"/>
            <a:ext cx="84124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463040"/>
            <a:ext cx="3337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Change a User's Role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4846320"/>
            <a:ext cx="91440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Step-by-step guide</a:t>
            </a:r>
          </a:p>
        </p:txBody>
      </p:sp>
      <p:sp>
        <p:nvSpPr>
          <p:cNvPr id="9" name="Oval 8"/>
          <p:cNvSpPr/>
          <p:nvPr/>
        </p:nvSpPr>
        <p:spPr>
          <a:xfrm>
            <a:off x="4160520" y="656049"/>
            <a:ext cx="384048" cy="38404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60520" y="557784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4256" y="960120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557784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Go to Admin Dashboard → Users tab</a:t>
            </a:r>
          </a:p>
        </p:txBody>
      </p:sp>
      <p:sp>
        <p:nvSpPr>
          <p:cNvPr id="13" name="Oval 12"/>
          <p:cNvSpPr/>
          <p:nvPr/>
        </p:nvSpPr>
        <p:spPr>
          <a:xfrm>
            <a:off x="4160520" y="1517904"/>
            <a:ext cx="384048" cy="38404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60520" y="1579593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4256" y="1901952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63440" y="1499616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Find the user with the search bar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Search by name or email address.</a:t>
            </a:r>
          </a:p>
        </p:txBody>
      </p:sp>
      <p:sp>
        <p:nvSpPr>
          <p:cNvPr id="17" name="Oval 16"/>
          <p:cNvSpPr/>
          <p:nvPr/>
        </p:nvSpPr>
        <p:spPr>
          <a:xfrm>
            <a:off x="4160520" y="2459736"/>
            <a:ext cx="384048" cy="38404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60520" y="2521425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34256" y="2843784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63440" y="2441448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Click the role badge next to their name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The badge shows their current role (Learner / Manager).</a:t>
            </a:r>
          </a:p>
        </p:txBody>
      </p:sp>
      <p:sp>
        <p:nvSpPr>
          <p:cNvPr id="21" name="Oval 20"/>
          <p:cNvSpPr/>
          <p:nvPr/>
        </p:nvSpPr>
        <p:spPr>
          <a:xfrm>
            <a:off x="4160520" y="3401568"/>
            <a:ext cx="384048" cy="38404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60520" y="3463257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34256" y="3785616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63440" y="3383280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Select the new role from the dropdown</a:t>
            </a:r>
          </a:p>
        </p:txBody>
      </p:sp>
      <p:sp>
        <p:nvSpPr>
          <p:cNvPr id="25" name="Oval 24"/>
          <p:cNvSpPr/>
          <p:nvPr/>
        </p:nvSpPr>
        <p:spPr>
          <a:xfrm>
            <a:off x="4160520" y="4343400"/>
            <a:ext cx="384048" cy="38404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60520" y="4405089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4325112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The change takes effect immediately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No email is sent — the user sees their new access on next login.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60520" y="6080760"/>
            <a:ext cx="7772400" cy="621792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160520" y="6080760"/>
            <a:ext cx="54864" cy="6217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25112" y="6108192"/>
            <a:ext cx="7543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BD5E1"/>
                </a:solidFill>
                <a:latin typeface="Calibri"/>
              </a:rPr>
              <a:t>Tip: Admins cannot demote themselves; ask another admin or your SuperAdmin.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11480" y="411480"/>
            <a:ext cx="822960" cy="8229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02336" y="641413"/>
            <a:ext cx="84124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463040"/>
            <a:ext cx="3337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Revoke User Access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4846320"/>
            <a:ext cx="91440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Step-by-step guide</a:t>
            </a:r>
          </a:p>
        </p:txBody>
      </p:sp>
      <p:sp>
        <p:nvSpPr>
          <p:cNvPr id="9" name="Oval 8"/>
          <p:cNvSpPr/>
          <p:nvPr/>
        </p:nvSpPr>
        <p:spPr>
          <a:xfrm>
            <a:off x="4160520" y="576072"/>
            <a:ext cx="384048" cy="38404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60520" y="627764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4256" y="960120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557784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Go to Admin Dashboard → Users tab</a:t>
            </a:r>
          </a:p>
        </p:txBody>
      </p:sp>
      <p:sp>
        <p:nvSpPr>
          <p:cNvPr id="13" name="Oval 12"/>
          <p:cNvSpPr/>
          <p:nvPr/>
        </p:nvSpPr>
        <p:spPr>
          <a:xfrm>
            <a:off x="4160520" y="1517904"/>
            <a:ext cx="384048" cy="38404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60520" y="156959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4256" y="1901952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63440" y="1499616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Find the user and click the ··· menu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The three-dot menu appears at the right of each user row.</a:t>
            </a:r>
          </a:p>
        </p:txBody>
      </p:sp>
      <p:sp>
        <p:nvSpPr>
          <p:cNvPr id="17" name="Oval 16"/>
          <p:cNvSpPr/>
          <p:nvPr/>
        </p:nvSpPr>
        <p:spPr>
          <a:xfrm>
            <a:off x="4160520" y="2459736"/>
            <a:ext cx="384048" cy="38404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60520" y="2511428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34256" y="2843784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63440" y="2441448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Select Revoke Access</a:t>
            </a:r>
          </a:p>
        </p:txBody>
      </p:sp>
      <p:sp>
        <p:nvSpPr>
          <p:cNvPr id="21" name="Oval 20"/>
          <p:cNvSpPr/>
          <p:nvPr/>
        </p:nvSpPr>
        <p:spPr>
          <a:xfrm>
            <a:off x="4160520" y="3401568"/>
            <a:ext cx="384048" cy="38404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60520" y="3453260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34256" y="3785616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63440" y="3383280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Confirm the action in the dialog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Type CONFIRM if prompted to prevent accidental revocation.</a:t>
            </a:r>
          </a:p>
        </p:txBody>
      </p:sp>
      <p:sp>
        <p:nvSpPr>
          <p:cNvPr id="25" name="Oval 24"/>
          <p:cNvSpPr/>
          <p:nvPr/>
        </p:nvSpPr>
        <p:spPr>
          <a:xfrm>
            <a:off x="4160520" y="4343400"/>
            <a:ext cx="384048" cy="38404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60520" y="4395092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4325112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The user is immediately signed out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They can no longer log in or access any training content.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60520" y="6080760"/>
            <a:ext cx="7772400" cy="621792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160520" y="6080760"/>
            <a:ext cx="54864" cy="6217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25112" y="6108192"/>
            <a:ext cx="7543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BD5E1"/>
                </a:solidFill>
                <a:latin typeface="Calibri"/>
              </a:rPr>
              <a:t>Tip: Revoked users can be re-invited at any time with the same email.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43600" y="0"/>
            <a:ext cx="6245352" cy="6858000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0" y="0"/>
            <a:ext cx="201168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0" b="1" i="0">
                <a:solidFill>
                  <a:srgbClr val="19233C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  <a:latin typeface="Calibri"/>
              </a:rPr>
              <a:t>SECTION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Departments &amp;
Module Assignment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977639"/>
            <a:ext cx="82296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BD5E1"/>
                </a:solidFill>
                <a:latin typeface="Calibri"/>
              </a:rPr>
              <a:t>Structure your organisation into teams and control which training is required for each.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5852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AA Plus Policy Training Platform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11480" y="411480"/>
            <a:ext cx="822960" cy="82296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02336" y="631416"/>
            <a:ext cx="84124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463040"/>
            <a:ext cx="3337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Create a Department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4846320"/>
            <a:ext cx="91440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Step-by-step guide</a:t>
            </a:r>
          </a:p>
        </p:txBody>
      </p:sp>
      <p:sp>
        <p:nvSpPr>
          <p:cNvPr id="9" name="Oval 8"/>
          <p:cNvSpPr/>
          <p:nvPr/>
        </p:nvSpPr>
        <p:spPr>
          <a:xfrm>
            <a:off x="4160520" y="576072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60520" y="627764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4256" y="960120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557784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Go to Admin Dashboard → Departments tab</a:t>
            </a:r>
          </a:p>
        </p:txBody>
      </p:sp>
      <p:sp>
        <p:nvSpPr>
          <p:cNvPr id="13" name="Oval 12"/>
          <p:cNvSpPr/>
          <p:nvPr/>
        </p:nvSpPr>
        <p:spPr>
          <a:xfrm>
            <a:off x="4160520" y="1517904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60520" y="156959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4256" y="1901952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63440" y="1499616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Click Add Department</a:t>
            </a:r>
          </a:p>
        </p:txBody>
      </p:sp>
      <p:sp>
        <p:nvSpPr>
          <p:cNvPr id="17" name="Oval 16"/>
          <p:cNvSpPr/>
          <p:nvPr/>
        </p:nvSpPr>
        <p:spPr>
          <a:xfrm>
            <a:off x="4160520" y="2459736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60520" y="2511428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34256" y="2843784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63440" y="2441448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Enter a department name (e.g. Finance, Legal, HR)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Names must be unique within your organisation.</a:t>
            </a:r>
          </a:p>
        </p:txBody>
      </p:sp>
      <p:sp>
        <p:nvSpPr>
          <p:cNvPr id="21" name="Oval 20"/>
          <p:cNvSpPr/>
          <p:nvPr/>
        </p:nvSpPr>
        <p:spPr>
          <a:xfrm>
            <a:off x="4160520" y="3401568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60520" y="3453260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34256" y="3785616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63440" y="3383280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Click Save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The department is immediately available for user assignment.</a:t>
            </a:r>
          </a:p>
        </p:txBody>
      </p:sp>
      <p:sp>
        <p:nvSpPr>
          <p:cNvPr id="25" name="Oval 24"/>
          <p:cNvSpPr/>
          <p:nvPr/>
        </p:nvSpPr>
        <p:spPr>
          <a:xfrm>
            <a:off x="4160520" y="4343400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60520" y="4395092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4325112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(Optional) Enable RPT Simulator for the department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Toggle the simulator switch on the department card.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60520" y="6080760"/>
            <a:ext cx="7772400" cy="621792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160520" y="6080760"/>
            <a:ext cx="54864" cy="6217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25112" y="6108192"/>
            <a:ext cx="7543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BD5E1"/>
                </a:solidFill>
                <a:latin typeface="Calibri"/>
              </a:rPr>
              <a:t>Tip: You can delete departments only if they have no assigned users.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11480" y="411480"/>
            <a:ext cx="822960" cy="82296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02336" y="631416"/>
            <a:ext cx="84124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463040"/>
            <a:ext cx="3337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Assign Users to
a Department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4846320"/>
            <a:ext cx="91440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Step-by-step guide</a:t>
            </a:r>
          </a:p>
        </p:txBody>
      </p:sp>
      <p:sp>
        <p:nvSpPr>
          <p:cNvPr id="9" name="Oval 8"/>
          <p:cNvSpPr/>
          <p:nvPr/>
        </p:nvSpPr>
        <p:spPr>
          <a:xfrm>
            <a:off x="4160520" y="576072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60520" y="627764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4256" y="960120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557784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Go to Admin Dashboard → Users tab</a:t>
            </a:r>
          </a:p>
        </p:txBody>
      </p:sp>
      <p:sp>
        <p:nvSpPr>
          <p:cNvPr id="13" name="Oval 12"/>
          <p:cNvSpPr/>
          <p:nvPr/>
        </p:nvSpPr>
        <p:spPr>
          <a:xfrm>
            <a:off x="4160520" y="1517904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60520" y="156959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4256" y="1901952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63440" y="1499616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Select one or more users using the checkboxes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Tick the header checkbox to select the entire visible list.</a:t>
            </a:r>
          </a:p>
        </p:txBody>
      </p:sp>
      <p:sp>
        <p:nvSpPr>
          <p:cNvPr id="17" name="Oval 16"/>
          <p:cNvSpPr/>
          <p:nvPr/>
        </p:nvSpPr>
        <p:spPr>
          <a:xfrm>
            <a:off x="4160520" y="2459736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60520" y="2511428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34256" y="2843784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63440" y="2441448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Click Assign Department in the bulk-action toolbar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The toolbar appears at the top when users are selected.</a:t>
            </a:r>
          </a:p>
        </p:txBody>
      </p:sp>
      <p:sp>
        <p:nvSpPr>
          <p:cNvPr id="21" name="Oval 20"/>
          <p:cNvSpPr/>
          <p:nvPr/>
        </p:nvSpPr>
        <p:spPr>
          <a:xfrm>
            <a:off x="4160520" y="3401568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60520" y="3453260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34256" y="3785616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63440" y="3383280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Choose the target department from the dropdown</a:t>
            </a:r>
          </a:p>
        </p:txBody>
      </p:sp>
      <p:sp>
        <p:nvSpPr>
          <p:cNvPr id="25" name="Oval 24"/>
          <p:cNvSpPr/>
          <p:nvPr/>
        </p:nvSpPr>
        <p:spPr>
          <a:xfrm>
            <a:off x="4160520" y="4343400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60520" y="4395092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4325112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Click Confirm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Users are reassigned instantly; their module list updates automatically.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60520" y="6080760"/>
            <a:ext cx="7772400" cy="621792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160520" y="6080760"/>
            <a:ext cx="54864" cy="6217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25112" y="6108192"/>
            <a:ext cx="7543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BD5E1"/>
                </a:solidFill>
                <a:latin typeface="Calibri"/>
              </a:rPr>
              <a:t>Tip: A user can only belong to one department at a time.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11480" y="411480"/>
            <a:ext cx="822960" cy="82296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02336" y="411480"/>
            <a:ext cx="84124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463040"/>
            <a:ext cx="3337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Enable a Module
for Your Organisation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4846320"/>
            <a:ext cx="91440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Step-by-step guide</a:t>
            </a:r>
          </a:p>
        </p:txBody>
      </p:sp>
      <p:sp>
        <p:nvSpPr>
          <p:cNvPr id="9" name="Oval 8"/>
          <p:cNvSpPr/>
          <p:nvPr/>
        </p:nvSpPr>
        <p:spPr>
          <a:xfrm>
            <a:off x="4160520" y="576072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60520" y="557784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4256" y="960120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557784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Go to Admin Dashboard → Modules &amp; Compliance tab</a:t>
            </a:r>
          </a:p>
        </p:txBody>
      </p:sp>
      <p:sp>
        <p:nvSpPr>
          <p:cNvPr id="13" name="Oval 12"/>
          <p:cNvSpPr/>
          <p:nvPr/>
        </p:nvSpPr>
        <p:spPr>
          <a:xfrm>
            <a:off x="4160520" y="1517904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60520" y="149961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4256" y="1901952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63440" y="1499616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Locate the policy module you want to activate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Modules include Anti-Corruption, POSH, Data Privacy, Cybersecurity, and more.</a:t>
            </a:r>
          </a:p>
        </p:txBody>
      </p:sp>
      <p:sp>
        <p:nvSpPr>
          <p:cNvPr id="17" name="Oval 16"/>
          <p:cNvSpPr/>
          <p:nvPr/>
        </p:nvSpPr>
        <p:spPr>
          <a:xfrm>
            <a:off x="4160520" y="2459736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60520" y="2441448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34256" y="2843784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63440" y="2441448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Toggle the Enable switch to ON</a:t>
            </a:r>
          </a:p>
        </p:txBody>
      </p:sp>
      <p:sp>
        <p:nvSpPr>
          <p:cNvPr id="21" name="Oval 20"/>
          <p:cNvSpPr/>
          <p:nvPr/>
        </p:nvSpPr>
        <p:spPr>
          <a:xfrm>
            <a:off x="4160520" y="3401568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60520" y="3383280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34256" y="3785616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63440" y="3383280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Choose scope: All Employees or specific departments</a:t>
            </a:r>
          </a:p>
        </p:txBody>
      </p:sp>
      <p:sp>
        <p:nvSpPr>
          <p:cNvPr id="25" name="Oval 24"/>
          <p:cNvSpPr/>
          <p:nvPr/>
        </p:nvSpPr>
        <p:spPr>
          <a:xfrm>
            <a:off x="4160520" y="4343400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60520" y="4325112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4325112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Click Save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The module appears on the dashboards of assigned users immediately.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60520" y="6080760"/>
            <a:ext cx="7772400" cy="621792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160520" y="6080760"/>
            <a:ext cx="54864" cy="6217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25112" y="6108192"/>
            <a:ext cx="7543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BD5E1"/>
                </a:solidFill>
                <a:latin typeface="Calibri"/>
              </a:rPr>
              <a:t>Tip: Disabling a module hides it but preserves all existing completion records.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11480" y="411480"/>
            <a:ext cx="822960" cy="82296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02336" y="601425"/>
            <a:ext cx="84124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463040"/>
            <a:ext cx="3337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Set a Module Deadline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4846320"/>
            <a:ext cx="91440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Step-by-step guide</a:t>
            </a:r>
          </a:p>
        </p:txBody>
      </p:sp>
      <p:sp>
        <p:nvSpPr>
          <p:cNvPr id="9" name="Oval 8"/>
          <p:cNvSpPr/>
          <p:nvPr/>
        </p:nvSpPr>
        <p:spPr>
          <a:xfrm>
            <a:off x="4160520" y="576072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60520" y="637761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4256" y="960120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557784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Go to Admin Dashboard → Modules &amp; Compliance tab</a:t>
            </a:r>
          </a:p>
        </p:txBody>
      </p:sp>
      <p:sp>
        <p:nvSpPr>
          <p:cNvPr id="13" name="Oval 12"/>
          <p:cNvSpPr/>
          <p:nvPr/>
        </p:nvSpPr>
        <p:spPr>
          <a:xfrm>
            <a:off x="4160520" y="1517904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60520" y="1579593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4256" y="1901952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63440" y="1499616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Click the calendar icon next to the active module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Only enabled modules can have deadlines.</a:t>
            </a:r>
          </a:p>
        </p:txBody>
      </p:sp>
      <p:sp>
        <p:nvSpPr>
          <p:cNvPr id="17" name="Oval 16"/>
          <p:cNvSpPr/>
          <p:nvPr/>
        </p:nvSpPr>
        <p:spPr>
          <a:xfrm>
            <a:off x="4160520" y="2459736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60520" y="2521425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34256" y="2843784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63440" y="2441448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Pick a due date from the date picker</a:t>
            </a:r>
          </a:p>
        </p:txBody>
      </p:sp>
      <p:sp>
        <p:nvSpPr>
          <p:cNvPr id="21" name="Oval 20"/>
          <p:cNvSpPr/>
          <p:nvPr/>
        </p:nvSpPr>
        <p:spPr>
          <a:xfrm>
            <a:off x="4160520" y="3401568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60520" y="3463257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34256" y="3785616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63440" y="3383280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Click Save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The deadline is displayed on every assigned user's dashboard.</a:t>
            </a:r>
          </a:p>
        </p:txBody>
      </p:sp>
      <p:sp>
        <p:nvSpPr>
          <p:cNvPr id="25" name="Oval 24"/>
          <p:cNvSpPr/>
          <p:nvPr/>
        </p:nvSpPr>
        <p:spPr>
          <a:xfrm>
            <a:off x="4160520" y="4343400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60520" y="4405089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4325112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Overdue warnings appear automatically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A red banner is shown to any user who misses the deadline.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60520" y="6080760"/>
            <a:ext cx="7772400" cy="621792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160520" y="6080760"/>
            <a:ext cx="54864" cy="6217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25112" y="6108192"/>
            <a:ext cx="7543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BD5E1"/>
                </a:solidFill>
                <a:latin typeface="Calibri"/>
              </a:rPr>
              <a:t>Tip: Set deadlines at least 2 weeks ahead to give users enough time.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43600" y="0"/>
            <a:ext cx="6245352" cy="6858000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0" y="0"/>
            <a:ext cx="201168" cy="6858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0" b="1" i="0">
                <a:solidFill>
                  <a:srgbClr val="19233C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C4899"/>
                </a:solidFill>
                <a:latin typeface="Calibri"/>
              </a:rPr>
              <a:t>SECTION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Reports &amp;
Compliance Tracking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977639"/>
            <a:ext cx="822960" cy="457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BD5E1"/>
                </a:solidFill>
                <a:latin typeface="Calibri"/>
              </a:rPr>
              <a:t>Monitor training progress, export audit records, and download certificates.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5852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AA Plus Policy Training Platform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11480" y="411480"/>
            <a:ext cx="822960" cy="82296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02336" y="621419"/>
            <a:ext cx="84124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463040"/>
            <a:ext cx="3337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View the Compliance
Dashboard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4846320"/>
            <a:ext cx="914400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Step-by-step guide</a:t>
            </a:r>
          </a:p>
        </p:txBody>
      </p:sp>
      <p:sp>
        <p:nvSpPr>
          <p:cNvPr id="9" name="Oval 8"/>
          <p:cNvSpPr/>
          <p:nvPr/>
        </p:nvSpPr>
        <p:spPr>
          <a:xfrm>
            <a:off x="4160520" y="576072"/>
            <a:ext cx="384048" cy="384048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60520" y="617767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4256" y="960120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557784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Go to Admin Dashboard → Reports tab</a:t>
            </a:r>
          </a:p>
        </p:txBody>
      </p:sp>
      <p:sp>
        <p:nvSpPr>
          <p:cNvPr id="13" name="Oval 12"/>
          <p:cNvSpPr/>
          <p:nvPr/>
        </p:nvSpPr>
        <p:spPr>
          <a:xfrm>
            <a:off x="4160520" y="1517904"/>
            <a:ext cx="384048" cy="384048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60520" y="1559598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4256" y="1901952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63440" y="1499616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View the compliance overview chart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Shows % of employees who have completed all assigned modules.</a:t>
            </a:r>
          </a:p>
        </p:txBody>
      </p:sp>
      <p:sp>
        <p:nvSpPr>
          <p:cNvPr id="17" name="Oval 16"/>
          <p:cNvSpPr/>
          <p:nvPr/>
        </p:nvSpPr>
        <p:spPr>
          <a:xfrm>
            <a:off x="4160520" y="2459736"/>
            <a:ext cx="384048" cy="384048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60520" y="2501431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34256" y="2843784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63440" y="2441448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Use the date range filter to refine the view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Compare progress across different time periods.</a:t>
            </a:r>
          </a:p>
        </p:txBody>
      </p:sp>
      <p:sp>
        <p:nvSpPr>
          <p:cNvPr id="21" name="Oval 20"/>
          <p:cNvSpPr/>
          <p:nvPr/>
        </p:nvSpPr>
        <p:spPr>
          <a:xfrm>
            <a:off x="4160520" y="3401568"/>
            <a:ext cx="384048" cy="384048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60520" y="3443263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34256" y="3785616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63440" y="3383280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Click a department bar to drill down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See completion status for every individual in that team.</a:t>
            </a:r>
          </a:p>
        </p:txBody>
      </p:sp>
      <p:sp>
        <p:nvSpPr>
          <p:cNvPr id="25" name="Oval 24"/>
          <p:cNvSpPr/>
          <p:nvPr/>
        </p:nvSpPr>
        <p:spPr>
          <a:xfrm>
            <a:off x="4160520" y="4343400"/>
            <a:ext cx="384048" cy="384048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60520" y="4385094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4325112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Switch to the Leaderboard tab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View top-performing employees ranked by completion score.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60520" y="6080760"/>
            <a:ext cx="7772400" cy="621792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160520" y="6080760"/>
            <a:ext cx="54864" cy="6217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25112" y="6108192"/>
            <a:ext cx="7543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BD5E1"/>
                </a:solidFill>
                <a:latin typeface="Calibri"/>
              </a:rPr>
              <a:t>Tip: The compliance % only counts modules that are marked as required.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11480" y="411480"/>
            <a:ext cx="822960" cy="82296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02336" y="641413"/>
            <a:ext cx="84124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463040"/>
            <a:ext cx="3337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Export the Audit Log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4846320"/>
            <a:ext cx="914400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Step-by-step guide</a:t>
            </a:r>
          </a:p>
        </p:txBody>
      </p:sp>
      <p:sp>
        <p:nvSpPr>
          <p:cNvPr id="9" name="Oval 8"/>
          <p:cNvSpPr/>
          <p:nvPr/>
        </p:nvSpPr>
        <p:spPr>
          <a:xfrm>
            <a:off x="4160520" y="576072"/>
            <a:ext cx="384048" cy="384048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60520" y="617767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4256" y="960120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557784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Go to Admin Dashboard → Reports tab → Audit Log</a:t>
            </a:r>
          </a:p>
        </p:txBody>
      </p:sp>
      <p:sp>
        <p:nvSpPr>
          <p:cNvPr id="13" name="Oval 12"/>
          <p:cNvSpPr/>
          <p:nvPr/>
        </p:nvSpPr>
        <p:spPr>
          <a:xfrm>
            <a:off x="4160520" y="1517904"/>
            <a:ext cx="384048" cy="384048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60520" y="1559598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4256" y="1901952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63440" y="1499616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Set the date range filter (From / To)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Leave blank to export the full history.</a:t>
            </a:r>
          </a:p>
        </p:txBody>
      </p:sp>
      <p:sp>
        <p:nvSpPr>
          <p:cNvPr id="17" name="Oval 16"/>
          <p:cNvSpPr/>
          <p:nvPr/>
        </p:nvSpPr>
        <p:spPr>
          <a:xfrm>
            <a:off x="4160520" y="2459736"/>
            <a:ext cx="384048" cy="384048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60520" y="2501431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34256" y="2843784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63440" y="2441448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Click Export CSV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The file downloads to your computer immediately.</a:t>
            </a:r>
          </a:p>
        </p:txBody>
      </p:sp>
      <p:sp>
        <p:nvSpPr>
          <p:cNvPr id="21" name="Oval 20"/>
          <p:cNvSpPr/>
          <p:nvPr/>
        </p:nvSpPr>
        <p:spPr>
          <a:xfrm>
            <a:off x="4160520" y="3401568"/>
            <a:ext cx="384048" cy="384048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60520" y="3443263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3383280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Open in Excel or Google Sheets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The log includes logins, quiz attempts, completions, and admin actions.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60520" y="6080760"/>
            <a:ext cx="7772400" cy="621792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160520" y="6080760"/>
            <a:ext cx="54864" cy="6217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25112" y="6108192"/>
            <a:ext cx="7543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BD5E1"/>
                </a:solidFill>
                <a:latin typeface="Calibri"/>
              </a:rPr>
              <a:t>Tip: Audit logs are available for the past 12 months.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11480" y="411480"/>
            <a:ext cx="822960" cy="82296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02336" y="641413"/>
            <a:ext cx="84124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463040"/>
            <a:ext cx="3337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Download Certificates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4846320"/>
            <a:ext cx="914400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Step-by-step guide</a:t>
            </a:r>
          </a:p>
        </p:txBody>
      </p:sp>
      <p:sp>
        <p:nvSpPr>
          <p:cNvPr id="9" name="Oval 8"/>
          <p:cNvSpPr/>
          <p:nvPr/>
        </p:nvSpPr>
        <p:spPr>
          <a:xfrm>
            <a:off x="4160520" y="576072"/>
            <a:ext cx="384048" cy="384048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60520" y="627764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4256" y="960120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557784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Go to Admin Dashboard → Reports tab</a:t>
            </a:r>
          </a:p>
        </p:txBody>
      </p:sp>
      <p:sp>
        <p:nvSpPr>
          <p:cNvPr id="13" name="Oval 12"/>
          <p:cNvSpPr/>
          <p:nvPr/>
        </p:nvSpPr>
        <p:spPr>
          <a:xfrm>
            <a:off x="4160520" y="1517904"/>
            <a:ext cx="384048" cy="384048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60520" y="156959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4256" y="1901952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63440" y="1499616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Click Bulk Download Certificates</a:t>
            </a:r>
          </a:p>
        </p:txBody>
      </p:sp>
      <p:sp>
        <p:nvSpPr>
          <p:cNvPr id="17" name="Oval 16"/>
          <p:cNvSpPr/>
          <p:nvPr/>
        </p:nvSpPr>
        <p:spPr>
          <a:xfrm>
            <a:off x="4160520" y="2459736"/>
            <a:ext cx="384048" cy="384048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60520" y="2511428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34256" y="2843784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63440" y="2441448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Select the module and date range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Filter by completion date to get a specific cohort's certificates.</a:t>
            </a:r>
          </a:p>
        </p:txBody>
      </p:sp>
      <p:sp>
        <p:nvSpPr>
          <p:cNvPr id="21" name="Oval 20"/>
          <p:cNvSpPr/>
          <p:nvPr/>
        </p:nvSpPr>
        <p:spPr>
          <a:xfrm>
            <a:off x="4160520" y="3401568"/>
            <a:ext cx="384048" cy="384048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60520" y="3453260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34256" y="3785616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63440" y="3383280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Click Export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A ZIP file of individual PDF certificates is downloaded.</a:t>
            </a:r>
          </a:p>
        </p:txBody>
      </p:sp>
      <p:sp>
        <p:nvSpPr>
          <p:cNvPr id="25" name="Oval 24"/>
          <p:cNvSpPr/>
          <p:nvPr/>
        </p:nvSpPr>
        <p:spPr>
          <a:xfrm>
            <a:off x="4160520" y="4343400"/>
            <a:ext cx="384048" cy="384048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60520" y="4395092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4325112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To view a single certificate: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Find the user in the Users tab → click View Certificate.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60520" y="6080760"/>
            <a:ext cx="7772400" cy="621792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160520" y="6080760"/>
            <a:ext cx="54864" cy="6217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25112" y="6108192"/>
            <a:ext cx="7543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BD5E1"/>
                </a:solidFill>
                <a:latin typeface="Calibri"/>
              </a:rPr>
              <a:t>Tip: Certificates include your organisation logo — upload it in Settings first.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43600" y="0"/>
            <a:ext cx="6245352" cy="6858000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0" y="0"/>
            <a:ext cx="201168" cy="68580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0" b="1" i="0">
                <a:solidFill>
                  <a:srgbClr val="19233C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923C"/>
                </a:solidFill>
                <a:latin typeface="Calibri"/>
              </a:rPr>
              <a:t>SECTION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AI Policy &amp;
Org Settings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977639"/>
            <a:ext cx="822960" cy="457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BD5E1"/>
                </a:solidFill>
                <a:latin typeface="Calibri"/>
              </a:rPr>
              <a:t>Configure your AI use policy tier, upload branding, and set up POSH committee details.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5852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AA Plus Policy Training Platform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11480" y="411480"/>
            <a:ext cx="822960" cy="82296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02336" y="661407"/>
            <a:ext cx="84124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463040"/>
            <a:ext cx="3337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Run the AI Policy Quiz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4846320"/>
            <a:ext cx="914400" cy="54864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Step-by-step guide</a:t>
            </a:r>
          </a:p>
        </p:txBody>
      </p:sp>
      <p:sp>
        <p:nvSpPr>
          <p:cNvPr id="9" name="Oval 8"/>
          <p:cNvSpPr/>
          <p:nvPr/>
        </p:nvSpPr>
        <p:spPr>
          <a:xfrm>
            <a:off x="4160520" y="576072"/>
            <a:ext cx="384048" cy="384048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60520" y="627764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4256" y="960120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557784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Go to Admin Dashboard → AI Policy tab</a:t>
            </a:r>
          </a:p>
        </p:txBody>
      </p:sp>
      <p:sp>
        <p:nvSpPr>
          <p:cNvPr id="13" name="Oval 12"/>
          <p:cNvSpPr/>
          <p:nvPr/>
        </p:nvSpPr>
        <p:spPr>
          <a:xfrm>
            <a:off x="4160520" y="1517904"/>
            <a:ext cx="384048" cy="384048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60520" y="156959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4256" y="1901952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63440" y="1499616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Read the four policy assessment questions carefully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Questions cover how your organisation uses AI in workflows.</a:t>
            </a:r>
          </a:p>
        </p:txBody>
      </p:sp>
      <p:sp>
        <p:nvSpPr>
          <p:cNvPr id="17" name="Oval 16"/>
          <p:cNvSpPr/>
          <p:nvPr/>
        </p:nvSpPr>
        <p:spPr>
          <a:xfrm>
            <a:off x="4160520" y="2459736"/>
            <a:ext cx="384048" cy="384048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60520" y="2511428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34256" y="2843784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63440" y="2441448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Answer each question based on your organisation's AI usage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Examples: invoice processing, legal drafting, anonymisation.</a:t>
            </a:r>
          </a:p>
        </p:txBody>
      </p:sp>
      <p:sp>
        <p:nvSpPr>
          <p:cNvPr id="21" name="Oval 20"/>
          <p:cNvSpPr/>
          <p:nvPr/>
        </p:nvSpPr>
        <p:spPr>
          <a:xfrm>
            <a:off x="4160520" y="3401568"/>
            <a:ext cx="384048" cy="384048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60520" y="3453260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34256" y="3785616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63440" y="3383280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The platform assigns an AI tier automatically: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Tier 1: Restricted Use  |  Tier 2: Standard  |  Tier 3: Responsible Use</a:t>
            </a:r>
          </a:p>
        </p:txBody>
      </p:sp>
      <p:sp>
        <p:nvSpPr>
          <p:cNvPr id="25" name="Oval 24"/>
          <p:cNvSpPr/>
          <p:nvPr/>
        </p:nvSpPr>
        <p:spPr>
          <a:xfrm>
            <a:off x="4160520" y="4343400"/>
            <a:ext cx="384048" cy="384048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60520" y="4395092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4325112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The matching AI training module is assigned to all users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Users see the new module on their dashboard immediately.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60520" y="6080760"/>
            <a:ext cx="7772400" cy="621792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160520" y="6080760"/>
            <a:ext cx="54864" cy="6217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25112" y="6108192"/>
            <a:ext cx="7543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BD5E1"/>
                </a:solidFill>
                <a:latin typeface="Calibri"/>
              </a:rPr>
              <a:t>Tip: You can re-run the quiz if your organisation's AI practices change.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11480" y="411480"/>
            <a:ext cx="822960" cy="82296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02336" y="611422"/>
            <a:ext cx="84124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463040"/>
            <a:ext cx="3337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Upload Your
Organisation Logo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4846320"/>
            <a:ext cx="914400" cy="54864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Step-by-step guide</a:t>
            </a:r>
          </a:p>
        </p:txBody>
      </p:sp>
      <p:sp>
        <p:nvSpPr>
          <p:cNvPr id="9" name="Oval 8"/>
          <p:cNvSpPr/>
          <p:nvPr/>
        </p:nvSpPr>
        <p:spPr>
          <a:xfrm>
            <a:off x="4160520" y="576072"/>
            <a:ext cx="384048" cy="384048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60520" y="627764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4256" y="960120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557784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Go to Admin → Settings (gear icon in the sidebar)</a:t>
            </a:r>
          </a:p>
        </p:txBody>
      </p:sp>
      <p:sp>
        <p:nvSpPr>
          <p:cNvPr id="13" name="Oval 12"/>
          <p:cNvSpPr/>
          <p:nvPr/>
        </p:nvSpPr>
        <p:spPr>
          <a:xfrm>
            <a:off x="4160520" y="1517904"/>
            <a:ext cx="384048" cy="384048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60520" y="156959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4256" y="1901952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63440" y="1499616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Scroll to the Organisation Logo section</a:t>
            </a:r>
          </a:p>
        </p:txBody>
      </p:sp>
      <p:sp>
        <p:nvSpPr>
          <p:cNvPr id="17" name="Oval 16"/>
          <p:cNvSpPr/>
          <p:nvPr/>
        </p:nvSpPr>
        <p:spPr>
          <a:xfrm>
            <a:off x="4160520" y="2459736"/>
            <a:ext cx="384048" cy="384048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60520" y="2511428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34256" y="2843784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63440" y="2441448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Click Upload Logo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Supported formats: PNG, JPG — maximum file size 2 MB.</a:t>
            </a:r>
          </a:p>
        </p:txBody>
      </p:sp>
      <p:sp>
        <p:nvSpPr>
          <p:cNvPr id="21" name="Oval 20"/>
          <p:cNvSpPr/>
          <p:nvPr/>
        </p:nvSpPr>
        <p:spPr>
          <a:xfrm>
            <a:off x="4160520" y="3401568"/>
            <a:ext cx="384048" cy="384048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60520" y="3453260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34256" y="3785616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63440" y="3383280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Preview the logo in the thumbnail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Ensure it looks clear at small sizes.</a:t>
            </a:r>
          </a:p>
        </p:txBody>
      </p:sp>
      <p:sp>
        <p:nvSpPr>
          <p:cNvPr id="25" name="Oval 24"/>
          <p:cNvSpPr/>
          <p:nvPr/>
        </p:nvSpPr>
        <p:spPr>
          <a:xfrm>
            <a:off x="4160520" y="4343400"/>
            <a:ext cx="384048" cy="384048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60520" y="4395092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4325112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Click Save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The logo appears on all new and existing user certificates.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60520" y="6080760"/>
            <a:ext cx="7772400" cy="621792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160520" y="6080760"/>
            <a:ext cx="54864" cy="6217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25112" y="6108192"/>
            <a:ext cx="7543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BD5E1"/>
                </a:solidFill>
                <a:latin typeface="Calibri"/>
              </a:rPr>
              <a:t>Tip: A square or landscape logo with a transparent background looks best.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11480" y="411480"/>
            <a:ext cx="822960" cy="82296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02336" y="651410"/>
            <a:ext cx="84124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463040"/>
            <a:ext cx="3337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Configure POSH /
ICC Details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4846320"/>
            <a:ext cx="914400" cy="54864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Step-by-step guide</a:t>
            </a:r>
          </a:p>
        </p:txBody>
      </p:sp>
      <p:sp>
        <p:nvSpPr>
          <p:cNvPr id="9" name="Oval 8"/>
          <p:cNvSpPr/>
          <p:nvPr/>
        </p:nvSpPr>
        <p:spPr>
          <a:xfrm>
            <a:off x="4160520" y="576072"/>
            <a:ext cx="384048" cy="384048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60520" y="637761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4256" y="960120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557784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Go to Admin → POSH Policy (via the sidebar)</a:t>
            </a:r>
          </a:p>
        </p:txBody>
      </p:sp>
      <p:sp>
        <p:nvSpPr>
          <p:cNvPr id="13" name="Oval 12"/>
          <p:cNvSpPr/>
          <p:nvPr/>
        </p:nvSpPr>
        <p:spPr>
          <a:xfrm>
            <a:off x="4160520" y="1517904"/>
            <a:ext cx="384048" cy="384048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60520" y="1579593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4256" y="1901952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63440" y="1499616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Enter your company's registered address and helpline number</a:t>
            </a:r>
          </a:p>
        </p:txBody>
      </p:sp>
      <p:sp>
        <p:nvSpPr>
          <p:cNvPr id="17" name="Oval 16"/>
          <p:cNvSpPr/>
          <p:nvPr/>
        </p:nvSpPr>
        <p:spPr>
          <a:xfrm>
            <a:off x="4160520" y="2459736"/>
            <a:ext cx="384048" cy="384048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60520" y="2521425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34256" y="2843784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63440" y="2441448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Enter the Presiding Officer's name and contact details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The Presiding Officer chairs the Internal Complaints Committee.</a:t>
            </a:r>
          </a:p>
        </p:txBody>
      </p:sp>
      <p:sp>
        <p:nvSpPr>
          <p:cNvPr id="21" name="Oval 20"/>
          <p:cNvSpPr/>
          <p:nvPr/>
        </p:nvSpPr>
        <p:spPr>
          <a:xfrm>
            <a:off x="4160520" y="3401568"/>
            <a:ext cx="384048" cy="384048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60520" y="3463257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34256" y="3785616"/>
            <a:ext cx="36576" cy="548640"/>
          </a:xfrm>
          <a:prstGeom prst="rect">
            <a:avLst/>
          </a:prstGeom>
          <a:solidFill>
            <a:srgbClr val="323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63440" y="3383280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Add all IC (Internal Committee) members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Include names and designations for each member.</a:t>
            </a:r>
          </a:p>
        </p:txBody>
      </p:sp>
      <p:sp>
        <p:nvSpPr>
          <p:cNvPr id="25" name="Oval 24"/>
          <p:cNvSpPr/>
          <p:nvPr/>
        </p:nvSpPr>
        <p:spPr>
          <a:xfrm>
            <a:off x="4160520" y="4343400"/>
            <a:ext cx="384048" cy="384048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60520" y="4405089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4325112"/>
            <a:ext cx="7223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Click Save</a:t>
            </a:r>
          </a:p>
          <a:p>
            <a:pPr algn="l">
              <a:spcBef>
                <a:spcPts val="1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Details are embedded in the POSH policy module content.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60520" y="6080760"/>
            <a:ext cx="7772400" cy="621792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160520" y="6080760"/>
            <a:ext cx="54864" cy="6217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25112" y="6108192"/>
            <a:ext cx="7543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BD5E1"/>
                </a:solidFill>
                <a:latin typeface="Calibri"/>
              </a:rPr>
              <a:t>Tip: Update these details immediately if your ICC membership changes.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You're All Set!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417320"/>
            <a:ext cx="2130552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3474720" cy="1920240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347472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8B5CF6"/>
                </a:solidFill>
                <a:latin typeface="Calibri"/>
              </a:rPr>
              <a:t>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Invite &amp; Manage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Single invites, bulk CSV imports, role changes, and access revocation.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0832" y="1691640"/>
            <a:ext cx="3474720" cy="1920240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70832" y="1691640"/>
            <a:ext cx="347472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53712" y="18288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8B5CF6"/>
                </a:solidFill>
                <a:latin typeface="Calibri"/>
              </a:rPr>
              <a:t>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331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Departments &amp; Modules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7889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Create teams, enable required training, and set completion deadlines.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84464" y="1691640"/>
            <a:ext cx="3474720" cy="1920240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84464" y="1691640"/>
            <a:ext cx="347472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67344" y="18288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8B5CF6"/>
                </a:solidFill>
                <a:latin typeface="Calibri"/>
              </a:rP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67344" y="2331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Reports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67344" y="27889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Monitor compliance, export audit logs, and download certificates.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794760"/>
            <a:ext cx="3474720" cy="1920240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3794760"/>
            <a:ext cx="347472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39319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8B5CF6"/>
                </a:solidFill>
                <a:latin typeface="Calibri"/>
              </a:rPr>
              <a:t>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434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Settings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8920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AI policy tier, organisation logo, and POSH/ICC configuration.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70832" y="3794760"/>
            <a:ext cx="3474720" cy="1920240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70832" y="3794760"/>
            <a:ext cx="347472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53712" y="39319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8B5CF6"/>
                </a:solidFill>
                <a:latin typeface="Calibri"/>
              </a:rPr>
              <a:t>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3712" y="4434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Need help?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53712" y="48920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Contact support via training.aaplus.app or your SuperAdmin.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84464" y="3794760"/>
            <a:ext cx="3474720" cy="1920240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284464" y="3794760"/>
            <a:ext cx="347472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67344" y="39319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8B5CF6"/>
                </a:solidFill>
                <a:latin typeface="Calibri"/>
              </a:rPr>
              <a:t>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67344" y="4434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Keep it updated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67344" y="48920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Re-run the AI policy quiz and update ICC details whenever they change.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0" y="6327648"/>
            <a:ext cx="1218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Questions? Contact your organisation's admin or visit training.aaplus.app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Custom</PresentationFormat>
  <Paragraphs>0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50</cp:revision>
  <dcterms:created xsi:type="dcterms:W3CDTF">2013-01-27T09:14:16Z</dcterms:created>
  <dcterms:modified xsi:type="dcterms:W3CDTF">2026-05-14T14:24:25Z</dcterms:modified>
  <cp:category/>
</cp:coreProperties>
</file>